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184668263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256032"/>
            <a:ext cx="1234440" cy="61356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Kenzhebayev M. · SE-2407 · Pre-defense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Kenzhebayev M. · SE-2407 · Pre-defense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184668263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256032"/>
            <a:ext cx="1234440" cy="6135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Kenzhebayev M. · SE-2407 · Pre-defense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69494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Wolfenste1n/diploma-Madiyar" TargetMode="External"/><Relationship Id="rId2" Type="http://schemas.openxmlformats.org/officeDocument/2006/relationships/hyperlink" Target="https://madiyar-diploma.youtrack.cloud/dashboard?id=177-0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184668263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011680" cy="9994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</a:rPr>
              <a:t>Development of an LLM Agent for Processing and Qualifying Leads from a Messaging Platform with CRM Integration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4526280"/>
            <a:ext cx="1060704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4709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11111"/>
                </a:solidFill>
              </a:rPr>
              <a:t>Student (individual project):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11111"/>
                </a:solidFill>
              </a:rPr>
              <a:t>Madiyar Kenzhebayev, SE-2407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11111"/>
                </a:solidFill>
              </a:rPr>
              <a:t>Supervisor: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11111"/>
                </a:solidFill>
              </a:rPr>
              <a:t>Zhanna B. Sadirmekova, PhD, Associate Professor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"/>
          <p:cNvSpPr/>
          <p:nvPr/>
        </p:nvSpPr>
        <p:spPr>
          <a:xfrm>
            <a:off x="548640" y="105156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3" name="c2"/>
          <p:cNvSpPr/>
          <p:nvPr/>
        </p:nvSpPr>
        <p:spPr>
          <a:xfrm>
            <a:off x="4311396" y="105156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" name="c3"/>
          <p:cNvSpPr/>
          <p:nvPr/>
        </p:nvSpPr>
        <p:spPr>
          <a:xfrm>
            <a:off x="8074152" y="105156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Problem and target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Problem. 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Leads write in free text at any hour. One manager answers and copies data into the CRM by hand, so leads wait and records are incomplete.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</a:rPr>
              <a:t>Target users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Customers (Telegram, WhatsApp)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Sales manager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Operator (LeadUp)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Pilot: Altay Santeh Opt, Astana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94276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Aim and objectives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94276" y="1645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Aim. 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An LLM agent that qualifies messenger leads and writes lead cards to a CRM, with handoff to a human.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4276" y="2926080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69764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Collect evidence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4276" y="3355848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69764" y="3355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Review literature and systems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4276" y="3785616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69764" y="37856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Specify requirements, 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94276" y="4215384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69764" y="4215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Implement MVP (Telegram, Bitrix24)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4276" y="4645152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69764" y="4645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Add WhatsApp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94276" y="5074920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69764" y="5074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Evaluate against baselines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57032" y="16459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11111"/>
                </a:solidFill>
              </a:rPr>
              <a:t>Outcomes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Working MVP (Telegram, Bitrix24)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Evaluation report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Documentation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11111"/>
                </a:solidFill>
              </a:rPr>
              <a:t>Scope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In: Telegram, WhatsApp, Bitrix24, handoff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Out: Instagram, TikTok, own CRM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11111"/>
                </a:solidFill>
              </a:rPr>
              <a:t>Complexity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State machine, validation, CRM tools, guardrails, 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57032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Expected outcomes and scope</a:t>
            </a:r>
            <a:endParaRPr lang="en-US" sz="1800" dirty="0"/>
          </a:p>
        </p:txBody>
      </p:sp>
      <p:sp>
        <p:nvSpPr>
          <p:cNvPr id="24" name="takeaway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71500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clear problem, realistic scope (one pilot business, MVP first), real engineering complexity (state machine, validation, CRM tools, guardrails, evaluation).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Evidence of relevance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Experts consulted: 2 of 3–5 discussions held (the rest planned by 20 Oct)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3566160"/>
                <a:gridCol w="47823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Expert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Company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What the discussion confirmed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Altay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Founder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Altay Santeh Opt (pilot client, Astana)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Manager overloaded: many requests, slow replies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Nikolai Salo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Founder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Salo Marketing (US home-services marketing)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The same overload at US home-services clients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63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Findings and their status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743200"/>
                <a:gridCol w="35935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Finding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Informs requirement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Reels ask for a keyword, photo and sizes in Direct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Verified (client content brief)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FR-04, FR-13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Manager overloaded, slow replies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Reported by Altay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FR-07, FR-08, NFR-01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The same overload at US home-services clients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Reported by Nikolai Salo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NFR-08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A faster first reply raises conversion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Assumption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Measured vs human baseline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akeaway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66928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verified and reported findings shape the requirements (last column); the effect on conversion stays an assumption and is tested in the evaluation.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Literature review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931920"/>
                <a:gridCol w="548640"/>
                <a:gridCol w="310896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Source (venue)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What it shows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Limitation for this project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Yao et al., ReAct (ICLR)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Reasoning interleaved with tool calls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General benchmarks, not sales chats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Schick et al., Toolformer (NeurIPS)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LMs learn to call APIs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Training-based; we use prompts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Wang et al., LLM agents survey (Front. Comput. Sci.)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Agent modules: memory, planning, 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Survey; no small-business guidance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Gao et al., RAG survey (arXiv)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Grounding reduces fabrication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Generic; we need a domain knowledge base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Hudeček, Dušek (SIGDIAL)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LLMs are weak at slot tracking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Benchmark dialogues in English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Yao et al., tau-bench (arXiv)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Judge the end state of tool 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Retail and airline domains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Ji et al., Hallucination survey (ACM CSUR)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Hallucination types and mitigations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specific to sales chats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Zheng et al., LLM-as-a-Judge (NeurIPS D&amp;B)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LLM judges agree with humans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Biased; secondary scorer 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Greshake et al., Prompt injection (AISec)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Untrusted text hijacks tools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Shows attacks; defenses are ours to test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Tam et al., Format restrictions (EMNLP Industry)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Strict formats can hurt reasoning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Effect depends on model; we ablate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González-Flores et al., Lead scoring (Frontiers in AI)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ML scores B2B leads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Structured data, not chats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Wu et al., Lead scoring review (SLR)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Traditional vs predictive scoring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Review; no LLM 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Lewis et al., RAG (NeurIPS), foundational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2020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Retrieval grounding for NLP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Pre-dates LLM 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it-note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3492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18 sources: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13 scientific (12 from 2023–2025 plus one foundational) and 5 technical documents; all checked against DOI / arXiv.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Approaches: tool-calling agents, RAG, LLM judges. Known: slot tracking, hallucination and injection are weak. Taken into account: explicit state, KB answers, tool whitelist, human labels. Gap: lead scoring does not cover chats.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Existing system comparison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828800"/>
                <a:gridCol w="1828800"/>
                <a:gridCol w="173736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Criterion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HighLevel Conversation 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Bitrix24 + AI 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Moon 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Make / n8n + LLM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This project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Channels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WhatsApp, Instagram, SMS,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Telegram, WhatsApp,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WhatsApp, Telegram, Instagram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Any, built by hand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Telegram, WhatsApp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CRM integration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Native (same platform)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Writes Bitrix24 fields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Lead and deal (vendor claim)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Via API modules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Bitrix24 adapter + mock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Structured fields, validation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confirmed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Fields, validation not stated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Filled card (vendor claim)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Custom, none by default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Typed schema, validated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Human handoff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Message limits, modes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To live manager (listing)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confirmed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Custom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Explicit triggers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Published quality 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Metrics vs baselines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Control of data, prompts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Closed platform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Closed 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Closed 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Full, own server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Pricing 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Usage-based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License + message units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Subscription + tokens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Platform +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Tokens + own server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Languages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confirmed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Not confirmed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RU, KZ, EN (vendor claim)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Depends on LLM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Russian 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Evidence source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Help center (official)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Marketplace listings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Product pages (vendor claims)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Author experience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Planned, measured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532120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Why a new solution.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products already automate first replies, but none reviewed publishes a quality method and most are closed; claims rest on the sources in the last row, and “not found” means not stated there.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Technology comparison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74720"/>
                <a:gridCol w="2286000"/>
                <a:gridCol w="35935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Alternatives considered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Chosen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Why: tied to requirements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LLM access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Hosted API · open-weight · hybrid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Hosted API behind an interface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Best Russian quality for the MVP; swappable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Orchestration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Own state machine · LangGraph · Make / n8n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Own state machine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Explicit states; testable (FR-04, FR-05)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Server platform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Python FastAPI · Node.js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Python + FastAPI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LLM and evaluation ecosystem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Data storage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PostgreSQL · MongoDB · SQLite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PostgreSQL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State, logs and knowledge base in one 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WhatsApp access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Cloud API · aggregator · unofficial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Cloud API (official)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Official rules; unofficial libraries risk bans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CRM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Bitrix24 · amoCRM / Kommo · own CRM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Bitrix24 via adapter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LeadUp stack; own CRM is out of scope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Component interaction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Webhooks + queue · broker · synchronous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</a:rPr>
                        <a:t>Webhooks + Redis queue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</a:rPr>
                        <a:t>Fast reply, no lost messages (NFR-01, 02)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keaway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562356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Conclusion on technologies.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each choice is justified by a requirement (last column) and is replaceable, so the contribution stays in the agent logic and its evaluation; Telegram uses the official Bot API.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Requirements specification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Functional (14): Must-have shown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548640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554480"/>
                <a:gridCol w="713232"/>
                <a:gridCol w="2651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Acceptance criterion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Telegram channel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Stored, reply within NFR-01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WhatsApp channel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Round trip with a test number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Dialogue state persists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Resumes after service restart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Ask only missing fields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Re-asks known field ≤5%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Typed lead schema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100% of stored leads pass validation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Lead class (HOT/WARM/COLD)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Accuracy, macro-F1 vs human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CRM upsert via adapter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One lead per chat, no duplicates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FR-08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Handoff to a human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Manager notified, agent stops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12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Should: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FR-09 KB answers, FR-10 config, FR-11 traces.  </a:t>
            </a:r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Could: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FR-12 follow-up, FR-13 photo hint.  </a:t>
            </a:r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Won’t: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FR-14 Instagram, TikTok.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63640" y="1280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Non-functional (8)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72768"/>
          <a:ext cx="5376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777240"/>
                <a:gridCol w="26791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Area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Acceptance criterion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Latency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p95 first reply ≤ 10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Reliability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 lost or duplicate messages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Secrets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None in the repository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Evaluation data anonymized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Safety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Tool whitelist; 0 successful injection probes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Language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Russian required; Kazakh, English should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Should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Cost per dialogue reported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NFR-08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Maintainability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Should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Replaceable interfaces; ≥70% core coverage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5212080"/>
            <a:ext cx="537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Requirements approved by the clients.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Full list: docs/06 in the repository.</a:t>
            </a:r>
            <a:endParaRPr lang="en-US" sz="1200" dirty="0"/>
          </a:p>
        </p:txBody>
      </p:sp>
      <p:sp>
        <p:nvSpPr>
          <p:cNvPr id="9" name="takeaway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66928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all 14 mandatory requirements (8 functional, 6 non-functional) have a measurable criterion, so each can be verified; thresholds are calibrated after the baseline run.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Architecture and diagrams</a:t>
            </a:r>
            <a:endParaRPr lang="en-US" sz="3400" dirty="0"/>
          </a:p>
        </p:txBody>
      </p:sp>
      <p:sp>
        <p:nvSpPr>
          <p:cNvPr id="3" name="p0"/>
          <p:cNvSpPr/>
          <p:nvPr/>
        </p:nvSpPr>
        <p:spPr>
          <a:xfrm>
            <a:off x="548640" y="1280160"/>
            <a:ext cx="3566160" cy="4224528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1  System context</a:t>
            </a:r>
            <a:endParaRPr lang="en-US" sz="1400" dirty="0"/>
          </a:p>
        </p:txBody>
      </p:sp>
      <p:sp>
        <p:nvSpPr>
          <p:cNvPr id="5" name="p1"/>
          <p:cNvSpPr/>
          <p:nvPr/>
        </p:nvSpPr>
        <p:spPr>
          <a:xfrm>
            <a:off x="4311396" y="1280160"/>
            <a:ext cx="3566160" cy="4224528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94276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2  Use case diagram</a:t>
            </a:r>
            <a:endParaRPr lang="en-US" sz="1400" dirty="0"/>
          </a:p>
        </p:txBody>
      </p:sp>
      <p:sp>
        <p:nvSpPr>
          <p:cNvPr id="7" name="p2"/>
          <p:cNvSpPr/>
          <p:nvPr/>
        </p:nvSpPr>
        <p:spPr>
          <a:xfrm>
            <a:off x="8074152" y="1280160"/>
            <a:ext cx="3566160" cy="4224528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7032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3  Component diagram (draft)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(Telegram, WhatsApp)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Operator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1005840" cy="3063240"/>
          </a:xfrm>
          <a:prstGeom prst="roundRect">
            <a:avLst>
              <a:gd name="adj" fmla="val 7273"/>
            </a:avLst>
          </a:prstGeom>
          <a:solidFill>
            <a:srgbClr val="D9E6F1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Lead qualification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8745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LLM API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97180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CRM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Bitrix24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42976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Sales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manager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5920" y="2240280"/>
            <a:ext cx="18288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645920" y="4617720"/>
            <a:ext cx="18288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2194560"/>
            <a:ext cx="18288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34640" y="3337560"/>
            <a:ext cx="18288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34640" y="4617720"/>
            <a:ext cx="18288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448556" y="1828800"/>
            <a:ext cx="868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Lead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48556" y="2743200"/>
            <a:ext cx="868680" cy="822960"/>
          </a:xfrm>
          <a:prstGeom prst="roundRect">
            <a:avLst>
              <a:gd name="adj" fmla="val 8889"/>
            </a:avLst>
          </a:prstGeom>
          <a:solidFill>
            <a:srgbClr val="D9E6F1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48556" y="3657600"/>
            <a:ext cx="868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Manager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48556" y="4572000"/>
            <a:ext cx="868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Operator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37276" y="1828800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Send message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17236" y="2011680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637276" y="2267712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Request human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17236" y="2450592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637276" y="2743200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Qualify, extract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17236" y="2926080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637276" y="3182112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Create / update CRM lead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17236" y="3364992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637276" y="3657600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Take over chat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17236" y="3840480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637276" y="4096512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Review, correct class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17236" y="4279392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637276" y="4572000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Configure rules, KB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17236" y="4754880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637276" y="5010912"/>
            <a:ext cx="205740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View metrics, traces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17236" y="5193792"/>
            <a:ext cx="32004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8211312" y="1783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Telegram adapter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48672" y="1783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WhatsApp adapter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902952" y="2167128"/>
            <a:ext cx="0" cy="13716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211312" y="2304288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Normalizer + Redis job queue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902952" y="2670048"/>
            <a:ext cx="0" cy="13716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5" name="core"/>
          <p:cNvSpPr/>
          <p:nvPr/>
        </p:nvSpPr>
        <p:spPr>
          <a:xfrm>
            <a:off x="8211312" y="2807208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48472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Agent core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30184" y="3090672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State machine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0" y="3090672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LLM client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30184" y="3639312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Guardrails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875520" y="3639312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Handoff service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902952" y="4224528"/>
            <a:ext cx="0" cy="13716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8211312" y="4361688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CRM adapter → Bitrix24 / mock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211312" y="484632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08592" y="48463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88752" y="48463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C5D3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Eval harness</a:t>
            </a:r>
            <a:endParaRPr lang="en-US" sz="1000" dirty="0"/>
          </a:p>
        </p:txBody>
      </p:sp>
      <p:sp>
        <p:nvSpPr>
          <p:cNvPr id="56" name="takeaway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5577840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Description and alignment.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webhook → queue → state machine with LLM and validation → CRM adapter. Traceability: FR-01/02 channel adapters; FR-03 to FR-05 state machine, LLM client, guardrails; FR-07 CRM adapter; FR-08 handoff service; scenarios = the eight use cases.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UX / prototype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84248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/mnt/user-data/outputs/mockup_1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1947672" cy="4233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15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1  Customer chat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Telegram / WhatsApp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971800" y="1371600"/>
            <a:ext cx="4206240" cy="262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mnt/user-data/outputs/mockup_2_crm_lead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389888"/>
            <a:ext cx="4169664" cy="25923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7180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2  Manager: CRM lead card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Fields, class WARM, handoff reason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434072" y="1371600"/>
            <a:ext cx="4206240" cy="262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mnt/user-data/outputs/mockup_3_operator_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89888"/>
            <a:ext cx="4169664" cy="25923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34072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3  Operator panel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Handoff queue, metrics, rules</a:t>
            </a:r>
            <a:endParaRPr lang="en-US" sz="1300" dirty="0"/>
          </a:p>
        </p:txBody>
      </p:sp>
      <p:sp>
        <p:nvSpPr>
          <p:cNvPr id="12" name="scenario"/>
          <p:cNvSpPr/>
          <p:nvPr/>
        </p:nvSpPr>
        <p:spPr>
          <a:xfrm>
            <a:off x="2971800" y="4800600"/>
            <a:ext cx="8668512" cy="1325880"/>
          </a:xfrm>
          <a:prstGeom prst="roundRect">
            <a:avLst>
              <a:gd name="adj" fmla="val 6897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0" y="4800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Key scenario.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A lead writes ПОДБОР; the agent asks for missing fields; a lead card with class and handoff reason appears in the CRM.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200400" y="5577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customers use the messenger they already have, managers work in the CRM, the operator uses a panel; external systems connect through webhooks and the REST API. Mockups use synthetic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Verification and evaluation plan</a:t>
            </a:r>
            <a:endParaRPr lang="en-US" sz="3400" dirty="0"/>
          </a:p>
        </p:txBody>
      </p:sp>
      <p:sp>
        <p:nvSpPr>
          <p:cNvPr id="3" name="st0"/>
          <p:cNvSpPr/>
          <p:nvPr/>
        </p:nvSpPr>
        <p:spPr>
          <a:xfrm>
            <a:off x="548640" y="1325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Test 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100+ dialogues: real anonymized + synthetic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72968" y="1737360"/>
            <a:ext cx="182880" cy="274320"/>
          </a:xfrm>
          <a:prstGeom prst="rightArrow">
            <a:avLst/>
          </a:prstGeom>
          <a:solidFill>
            <a:srgbClr val="287AAA"/>
          </a:solidFill>
          <a:ln w="12700">
            <a:solidFill>
              <a:srgbClr val="287AAA"/>
            </a:solidFill>
            <a:prstDash val="solid"/>
          </a:ln>
        </p:spPr>
      </p:sp>
      <p:sp>
        <p:nvSpPr>
          <p:cNvPr id="8" name="st1"/>
          <p:cNvSpPr/>
          <p:nvPr/>
        </p:nvSpPr>
        <p:spPr>
          <a:xfrm>
            <a:off x="3383280" y="1325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17320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7764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Gold labels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Fields, class, handoff; two annotators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07608" y="1737360"/>
            <a:ext cx="182880" cy="274320"/>
          </a:xfrm>
          <a:prstGeom prst="rightArrow">
            <a:avLst/>
          </a:prstGeom>
          <a:solidFill>
            <a:srgbClr val="287AAA"/>
          </a:solidFill>
          <a:ln w="12700">
            <a:solidFill>
              <a:srgbClr val="287AAA"/>
            </a:solidFill>
            <a:prstDash val="solid"/>
          </a:ln>
        </p:spPr>
      </p:sp>
      <p:sp>
        <p:nvSpPr>
          <p:cNvPr id="13" name="st2"/>
          <p:cNvSpPr/>
          <p:nvPr/>
        </p:nvSpPr>
        <p:spPr>
          <a:xfrm>
            <a:off x="6217920" y="1325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417320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1228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Run agent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Same dialogues, mock CRM, 3 runs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42248" y="1737360"/>
            <a:ext cx="182880" cy="274320"/>
          </a:xfrm>
          <a:prstGeom prst="rightArrow">
            <a:avLst/>
          </a:prstGeom>
          <a:solidFill>
            <a:srgbClr val="287AAA"/>
          </a:solidFill>
          <a:ln w="12700">
            <a:solidFill>
              <a:srgbClr val="287AAA"/>
            </a:solidFill>
            <a:prstDash val="solid"/>
          </a:ln>
        </p:spPr>
      </p:sp>
      <p:sp>
        <p:nvSpPr>
          <p:cNvPr id="18" name="st3"/>
          <p:cNvSpPr/>
          <p:nvPr/>
        </p:nvSpPr>
        <p:spPr>
          <a:xfrm>
            <a:off x="9052560" y="13258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417320"/>
            <a:ext cx="347472" cy="347472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4692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Metrics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8972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Compare with baselines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</a:rPr>
                        <a:t>Initial target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Field F1 vs gold labels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0.85 or higher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Qualification 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0.80 or higher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Handoff 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0.90 or higher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Unsupported-claim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2% or lower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Successful injection probes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p95 first-reply 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Under 10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base"/>
          <p:cNvSpPr/>
          <p:nvPr/>
        </p:nvSpPr>
        <p:spPr>
          <a:xfrm>
            <a:off x="5897880" y="26060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2715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Baselines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080760" y="310896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B1 rule-based bot, fixed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B2 Make / n8n, single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B3 human 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Ablations: no validation, free output</a:t>
            </a:r>
            <a:endParaRPr lang="en-US" sz="1400" dirty="0"/>
          </a:p>
        </p:txBody>
      </p:sp>
      <p:sp>
        <p:nvSpPr>
          <p:cNvPr id="26" name="cond"/>
          <p:cNvSpPr/>
          <p:nvPr/>
        </p:nvSpPr>
        <p:spPr>
          <a:xfrm>
            <a:off x="8869680" y="2606040"/>
            <a:ext cx="2770632" cy="3017520"/>
          </a:xfrm>
          <a:prstGeom prst="roundRect">
            <a:avLst>
              <a:gd name="adj" fmla="val 3300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52560" y="2715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Test plan and conditions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052560" y="310896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Unit, integration, end-to-end tests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Fixed prompts and model, 3 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Test set frozen before tuning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Targets are hypotheses, set after baseline</a:t>
            </a:r>
            <a:endParaRPr lang="en-US" sz="1400" dirty="0"/>
          </a:p>
        </p:txBody>
      </p:sp>
      <p:sp>
        <p:nvSpPr>
          <p:cNvPr id="29" name="takeaway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71500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the aim is shown by metrics on labeled dialogues, compared with three baselines.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Project management and risks</a:t>
            </a:r>
            <a:endParaRPr lang="en-US" sz="3400" dirty="0"/>
          </a:p>
        </p:txBody>
      </p:sp>
      <p:sp>
        <p:nvSpPr>
          <p:cNvPr id="3" name="repo"/>
          <p:cNvSpPr/>
          <p:nvPr/>
        </p:nvSpPr>
        <p:spPr>
          <a:xfrm>
            <a:off x="548640" y="128016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Repository and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11111"/>
                </a:solidFill>
              </a:rPr>
              <a:t>GitHub: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11111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github.com/Wolfenste1n/diploma-Madiyar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11111"/>
                </a:solidFill>
              </a:rPr>
              <a:t>YouTrack (DIP):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11111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madiyar-diploma.youtrack.cloud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18 tasks with owner, criteria, deadline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Branch and pull request per task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Tags: pre-defense-1, pre-defense-2,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Responsibilities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Student: analysis, design, code, evaluation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Supervisor: reviews key deliverables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</a:rPr>
              <a:t>Experts, client: interviews, data</a:t>
            </a:r>
            <a:endParaRPr lang="en-US" sz="1200" dirty="0"/>
          </a:p>
        </p:txBody>
      </p:sp>
      <p:sp>
        <p:nvSpPr>
          <p:cNvPr id="9" name="miles"/>
          <p:cNvSpPr/>
          <p:nvPr/>
        </p:nvSpPr>
        <p:spPr>
          <a:xfrm>
            <a:off x="4297680" y="1280160"/>
            <a:ext cx="2926080" cy="4251960"/>
          </a:xfrm>
          <a:prstGeom prst="roundRect">
            <a:avLst>
              <a:gd name="adj" fmla="val 3125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Milestones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98848" y="1819656"/>
            <a:ext cx="182880" cy="182880"/>
          </a:xfrm>
          <a:prstGeom prst="ellipse">
            <a:avLst/>
          </a:prstGeom>
          <a:solidFill>
            <a:srgbClr val="287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24 Oct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Pre-defense 1: analysis, design,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98848" y="2551176"/>
            <a:ext cx="182880" cy="182880"/>
          </a:xfrm>
          <a:prstGeom prst="ellipse">
            <a:avLst/>
          </a:prstGeom>
          <a:solidFill>
            <a:srgbClr val="287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Nov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Telegram, agent core, mock CRM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98848" y="3282696"/>
            <a:ext cx="182880" cy="182880"/>
          </a:xfrm>
          <a:prstGeom prst="ellipse">
            <a:avLst/>
          </a:prstGeom>
          <a:solidFill>
            <a:srgbClr val="287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WhatsApp, injection tests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98848" y="4014216"/>
            <a:ext cx="182880" cy="182880"/>
          </a:xfrm>
          <a:prstGeom prst="ellipse">
            <a:avLst/>
          </a:prstGeom>
          <a:solidFill>
            <a:srgbClr val="287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977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May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Pre-defense 2: MVP, baselines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98848" y="4745736"/>
            <a:ext cx="182880" cy="182880"/>
          </a:xfrm>
          <a:prstGeom prst="ellipse">
            <a:avLst/>
          </a:prstGeom>
          <a:solidFill>
            <a:srgbClr val="287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4709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June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Final: evaluation, documents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80160"/>
          <a:ext cx="4233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11680"/>
                <a:gridCol w="80467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Level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Invented prices or stock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KB-only answers, handoff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8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Prompt injection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Tool whitelist, validation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8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Personal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Anonymize, written consent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8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WhatsApp onboarding delay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Telegram 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Few real dialogues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Synthetic set, honest limits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Scope for one student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MVP first, stretch separate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1"/>
                    </a:solidFill>
                  </a:tcPr>
                </a:tc>
              </a:tr>
            </a:tbl>
          </a:graphicData>
        </a:graphic>
      </p:graphicFrame>
      <p:sp>
        <p:nvSpPr>
          <p:cNvPr id="22" name="deps"/>
          <p:cNvSpPr/>
          <p:nvPr/>
        </p:nvSpPr>
        <p:spPr>
          <a:xfrm>
            <a:off x="7406640" y="4434840"/>
            <a:ext cx="4233672" cy="1097280"/>
          </a:xfrm>
          <a:prstGeom prst="roundRect">
            <a:avLst>
              <a:gd name="adj" fmla="val 8333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0" y="44348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Dependencies. </a:t>
            </a:r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Bitrix24 plan with REST API, WhatsApp Business account, LLM API access.</a:t>
            </a:r>
            <a:endParaRPr lang="en-US" sz="1200" dirty="0"/>
          </a:p>
        </p:txBody>
      </p:sp>
      <p:sp>
        <p:nvSpPr>
          <p:cNvPr id="24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66928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Takeaway.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work is traceable (tasks, pull requests, tags); next steps: finish interviews by 20 Oct, Telegram skeleton, repository documents.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0"/>
          <p:cNvSpPr/>
          <p:nvPr/>
        </p:nvSpPr>
        <p:spPr>
          <a:xfrm>
            <a:off x="548640" y="1188720"/>
            <a:ext cx="5422392" cy="2468880"/>
          </a:xfrm>
          <a:prstGeom prst="roundRect">
            <a:avLst>
              <a:gd name="adj" fmla="val 370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84048" cy="384048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Done at this stage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Problem, aim, scope and six objectives; requirements approved by the clients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Evidence from two expert discussions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13 sources reviewed; 4 existing products compared on 8 criteria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7 technology decisions justified by the requirements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Architecture, prototype mockups and evaluation plan; repository and YouTrack created</a:t>
            </a:r>
            <a:endParaRPr lang="en-US" sz="1300" dirty="0"/>
          </a:p>
        </p:txBody>
      </p:sp>
      <p:sp>
        <p:nvSpPr>
          <p:cNvPr id="7" name="c1"/>
          <p:cNvSpPr/>
          <p:nvPr/>
        </p:nvSpPr>
        <p:spPr>
          <a:xfrm>
            <a:off x="6217920" y="1188720"/>
            <a:ext cx="5422392" cy="2468880"/>
          </a:xfrm>
          <a:prstGeom prst="roundRect">
            <a:avLst>
              <a:gd name="adj" fmla="val 3704"/>
            </a:avLst>
          </a:prstGeom>
          <a:solidFill>
            <a:srgbClr val="D9E6F1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384048" cy="384048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95160" y="1371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Main findings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Commercial agents already qualify leads and write to a CRM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None of the reviewed products publishes a quality-measurement method; most are closed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LLM agents are weak at slot tracking, hallucination and injection: handled by explicit state, knowledge-base answers and a tool whitelist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Contribution: a measurable agent with validated schema, explicit handoff and replaceable channel, LLM and CRM</a:t>
            </a:r>
            <a:endParaRPr lang="en-US" sz="1300" dirty="0"/>
          </a:p>
        </p:txBody>
      </p:sp>
      <p:sp>
        <p:nvSpPr>
          <p:cNvPr id="11" name="c2"/>
          <p:cNvSpPr/>
          <p:nvPr/>
        </p:nvSpPr>
        <p:spPr>
          <a:xfrm>
            <a:off x="548640" y="3730752"/>
            <a:ext cx="5422392" cy="2468880"/>
          </a:xfrm>
          <a:prstGeom prst="roundRect">
            <a:avLst>
              <a:gd name="adj" fmla="val 370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13632"/>
            <a:ext cx="384048" cy="384048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9136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No code and no measured results yet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2 of 3–5 expert discussions held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Metric targets are initial hypotheses, calibrated after the baseline run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Part of the competitor data are vendor claims</a:t>
            </a:r>
            <a:endParaRPr lang="en-US" sz="1300" dirty="0"/>
          </a:p>
        </p:txBody>
      </p:sp>
      <p:sp>
        <p:nvSpPr>
          <p:cNvPr id="15" name="c3"/>
          <p:cNvSpPr/>
          <p:nvPr/>
        </p:nvSpPr>
        <p:spPr>
          <a:xfrm>
            <a:off x="6217920" y="3730752"/>
            <a:ext cx="5422392" cy="2468880"/>
          </a:xfrm>
          <a:prstGeom prst="roundRect">
            <a:avLst>
              <a:gd name="adj" fmla="val 3704"/>
            </a:avLst>
          </a:prstGeom>
          <a:solidFill>
            <a:srgbClr val="EEF3F8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913632"/>
            <a:ext cx="384048" cy="384048"/>
          </a:xfrm>
          <a:prstGeom prst="ellipse">
            <a:avLst/>
          </a:prstGeom>
          <a:solidFill>
            <a:srgbClr val="D9E6F1"/>
          </a:solidFill>
          <a:ln w="15875">
            <a:solidFill>
              <a:srgbClr val="287A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39136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441655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By 20 Oct: finish interviews, check sources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Nov: Telegram gateway, agent core, mock CRM, Bitrix24 adapter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Dec: WhatsApp channel, injection tests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May (pre-defense 2): end-to-end MVP, baselines measured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June (final): full evaluation, documentation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Scientific sources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40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Yao S. et al. (2023). ReAct: Synergizing Reasoning and Acting in Language Models. ICLR 2023. arXiv:2210.03629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[2]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Schick T. et al. (2023). Toolformer: Language Models Can Teach Themselves to Use Tools. NeurIPS 2023. arXiv:2302.04761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[3]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Wang L. et al. (2024). A Survey on Large Language Model based Autonomous Agents. Frontiers of Computer Science. arXiv:2308.11432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[4]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Gao Y. et al. (2023). Retrieval-Augmented Generation for Large Language Models: A Survey. arXiv:2312.10997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[5]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Hudeček V., Dušek O. (2023). Are Large Language Models All You Need for Task-Oriented Dialogue? SIGDIAL 2023, pp. 216–228. doi:10.18653/v1/2023.sigdial-1.21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[6]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Yao S. et al. (2024). tau-bench: A Benchmark for Tool-Agent-User Interaction in Real-World Domains. arXiv:2406.12045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[7]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Ji Z. et al. (2023). Survey of Hallucination in Natural Language Generation. ACM Computing Surveys 55(12). arXiv:2202.03629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[8]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Zheng L. et al. (2023). Judging LLM-as-a-Judge with MT-Bench and Chatbot Arena. NeurIPS 2023 Datasets and Benchmarks. arXiv:2306.05685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[9]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Greshake K. et al. (2023). Not What You've Signed Up For: Compromising Real-World LLM-Integrated Applications with Indirect Prompt Injection. AISec 2023. arXiv:2302.12173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99632" y="11887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[10]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Tam Z. R. et al. (2024). Let Me Speak Freely? A Study on the Impact of Format Restrictions on Performance of Large Language Models. EMNLP 2024 Industry Track. arXiv:2408.02442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[11]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González-Flores L., Rubiano-Moreno J., Sosa-Gómez G. (2025). The relevance of lead prioritization: a B2B lead scoring model based on machine learning. Frontiers in Artificial Intelligence. doi:10.3389/frai.2025.1554325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[12]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Wu M., Andreev P. et al. (2023). The state of lead scoring models and their impact on sales performance. Information Technology and Management. doi:10.1007/s10799-023-00388-w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[13]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Lewis P. et al. (2020). Retrieval-Augmented Generation for Knowledge-Intensive NLP Tasks. NeurIPS 2020. arXiv:2005.11401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9632" y="3520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Technical 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9632" y="384048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[14]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HighLevel Support. How to set up a Conversation AI bot. help.gohighlevel.com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[15]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Meta. WhatsApp Business Platform, Cloud API documentation. developers.facebook.com/docs/whatsapp/cloud-api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[16]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Telegram. Bot API documentation. core.telegram.org/bots/api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[17]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Bitrix24. REST API documentation. apidocs.bitrix24.com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[18]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OWASP. Top 10 for Large Language Model Applications. owasp.org/www-project-top-10-for-large-language-model-applications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Identifiers: DOI where assigned, otherwise arXiv.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3333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Agent">
  <a:themeElements>
    <a:clrScheme name="Lead Agent">
      <a:dk1>
        <a:srgbClr val="111111"/>
      </a:dk1>
      <a:lt1>
        <a:srgbClr val="FFFFFF"/>
      </a:lt1>
      <a:dk2>
        <a:srgbClr val="333333"/>
      </a:dk2>
      <a:lt2>
        <a:srgbClr val="EEF3F8"/>
      </a:lt2>
      <a:accent1>
        <a:srgbClr val="287AAA"/>
      </a:accent1>
      <a:accent2>
        <a:srgbClr val="D9E6F1"/>
      </a:accent2>
      <a:accent3>
        <a:srgbClr val="F2B84B"/>
      </a:accent3>
      <a:accent4>
        <a:srgbClr val="5B6B7A"/>
      </a:accent4>
      <a:accent5>
        <a:srgbClr val="C5D3E0"/>
      </a:accent5>
      <a:accent6>
        <a:srgbClr val="2B2F33"/>
      </a:accent6>
      <a:hlink>
        <a:srgbClr val="287AAA"/>
      </a:hlink>
      <a:folHlink>
        <a:srgbClr val="5B6B7A"/>
      </a:folHlink>
    </a:clrScheme>
    <a:fontScheme name="Lead Ag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 pre-defense: LLM lead qualification agent</dc:title>
  <dc:subject>PptxGenJS Presentation</dc:subject>
  <dc:creator>Madiyar Kenzhebayev</dc:creator>
  <cp:lastModifiedBy>Madiyar Kenzhebayev</cp:lastModifiedBy>
  <cp:revision>1</cp:revision>
  <dcterms:created xsi:type="dcterms:W3CDTF">2026-10-13T16:17:10Z</dcterms:created>
  <dcterms:modified xsi:type="dcterms:W3CDTF">2026-10-13T16:17:10Z</dcterms:modified>
</cp:coreProperties>
</file>